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Lato Light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Light-bold.fntdata"/><Relationship Id="rId25" Type="http://schemas.openxmlformats.org/officeDocument/2006/relationships/font" Target="fonts/LatoLight-regular.fntdata"/><Relationship Id="rId28" Type="http://schemas.openxmlformats.org/officeDocument/2006/relationships/font" Target="fonts/LatoLight-boldItalic.fntdata"/><Relationship Id="rId27" Type="http://schemas.openxmlformats.org/officeDocument/2006/relationships/font" Target="fonts/Lato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7704b7fae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e7704b7fae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7704b7fae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e7704b7fae_2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7704b7fae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e7704b7fa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O-SS0fBzAf9t-qBwOmWCl2BihmJHpSFv/view" TargetMode="External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3800" y="4448919"/>
            <a:ext cx="20574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0850" y="4448919"/>
            <a:ext cx="165735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043362" y="1846957"/>
            <a:ext cx="41052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ato Light"/>
                <a:ea typeface="Lato Light"/>
                <a:cs typeface="Lato Light"/>
                <a:sym typeface="Lato Light"/>
              </a:rPr>
              <a:t>Next-Gen Mixed Reality Solutions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330529" y="2273647"/>
            <a:ext cx="7530941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HoloLens 3D Medical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Visualization MVP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6775" y="138625"/>
            <a:ext cx="2922475" cy="10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034400" y="5757200"/>
            <a:ext cx="1039075" cy="9446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10894950" y="6166975"/>
            <a:ext cx="1039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TritechX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3137"/>
            <a:ext cx="3492400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43137"/>
            <a:ext cx="3492549" cy="3257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243137"/>
            <a:ext cx="3492400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962025" y="3414712"/>
            <a:ext cx="28469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Scope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3890962"/>
            <a:ext cx="2711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Defining the core functional requirements and high-level objectives for the 3D medical MVP.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40175" y="3414712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Workflow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40175" y="389096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Technical methodology and pipeline for asset preparation and HoloLens 2 deployment.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18475" y="3414712"/>
            <a:ext cx="284691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Visualization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18475" y="389096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Simulated anatomical models and immersive interaction controls in mixed reality.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812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175" y="26812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475" y="26812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62000" y="571500"/>
            <a:ext cx="11430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AGENDA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28787"/>
            <a:ext cx="52387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738312"/>
            <a:ext cx="5219699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000125" y="2366962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3D Model Loading: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High-performance STL visualization on HoloLens 2.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3119437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Interaction Control: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Intuitive gesture-based rotate and zoom functionalities.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00125" y="3871912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Layer Management: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Study anatomical depth through dynamic visibility toggles.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00125" y="4624387"/>
            <a:ext cx="48101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Highlight Tools:</a:t>
            </a:r>
            <a:r>
              <a:rPr b="0" i="0" lang="en-US" sz="16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Structure identification via color, material, and outline.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098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6230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91477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667250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62000" y="571500"/>
            <a:ext cx="11430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FUNCTIONAL SCOPE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2725"/>
            <a:ext cx="53340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52725"/>
            <a:ext cx="533400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42975" y="3086100"/>
            <a:ext cx="48606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1. Setup &amp; Asset Preparation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42975" y="3362325"/>
            <a:ext cx="4629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Preparing complex medical mesh data for low-latency rendering.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57975" y="3086100"/>
            <a:ext cx="48606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2. Visualization &amp; Placement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57975" y="3362325"/>
            <a:ext cx="4629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Achieving spatial anchoring and anatomical accuracy in a real-world context.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42975" y="4114800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Prep brain/skull 3D models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42975" y="4295775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Anatomical layer segmentation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42975" y="4476750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URP &amp; OpenXR Optimization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657975" y="4114800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Set correct scale and position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657975" y="4295775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Display anatomy in real space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657975" y="4476750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MR Rig configuration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4133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4314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4495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7975" y="4133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7975" y="4314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7975" y="44958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762000" y="571500"/>
            <a:ext cx="11430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IMPLEMENTATION: ASSET FOUNDATION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2725"/>
            <a:ext cx="53340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52725"/>
            <a:ext cx="533400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942975" y="3086100"/>
            <a:ext cx="48606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3. Interaction &amp; Controls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942975" y="3362325"/>
            <a:ext cx="4629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Enabling direct manipulation through advanced hand tracking algorithms.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657975" y="3086100"/>
            <a:ext cx="486060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4. Testing &amp; Deployment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57975" y="3362325"/>
            <a:ext cx="4629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Ensuring executive-level stability and fluid performance targets.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942975" y="4114800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Enable hand-tracking physics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42975" y="4295775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Logic for zoom/scale gestures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42975" y="4476750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UI Buttons &amp; HUD integration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57975" y="4114800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Frame-rate optimization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57975" y="4295775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Fix interaction &amp; UI glitches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57975" y="4476750"/>
            <a:ext cx="46291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Final app build &amp; deployment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4133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4314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975" y="4495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7975" y="4133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7975" y="43148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7975" y="44958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762000" y="571500"/>
            <a:ext cx="1143000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IMPLEMENTATION: UX &amp; LOGIC</a:t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571500" y="571500"/>
            <a:ext cx="57150" cy="600075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/>
          <p:nvPr/>
        </p:nvSpPr>
        <p:spPr>
          <a:xfrm flipH="1" rot="10800000">
            <a:off x="278925" y="1620453"/>
            <a:ext cx="6258300" cy="33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333200" y="175950"/>
            <a:ext cx="69894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Simulation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Visualization Mastery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333200" y="2341675"/>
            <a:ext cx="39636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High-Fidelity Medical Immersive Experiences</a:t>
            </a:r>
            <a:endParaRPr b="1"/>
          </a:p>
        </p:txBody>
      </p:sp>
      <p:pic>
        <p:nvPicPr>
          <p:cNvPr id="187" name="Google Shape;1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6475" y="1813600"/>
            <a:ext cx="6247850" cy="348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762000" y="571500"/>
            <a:ext cx="1143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DD4B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ROADMAP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571500"/>
            <a:ext cx="57300" cy="600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9"/>
          <p:cNvCxnSpPr/>
          <p:nvPr/>
        </p:nvCxnSpPr>
        <p:spPr>
          <a:xfrm flipH="1" rot="5400000">
            <a:off x="6294909" y="-2005521"/>
            <a:ext cx="7800" cy="10678200"/>
          </a:xfrm>
          <a:prstGeom prst="straightConnector1">
            <a:avLst/>
          </a:prstGeom>
          <a:noFill/>
          <a:ln cap="flat" cmpd="sng" w="3320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9"/>
          <p:cNvCxnSpPr/>
          <p:nvPr/>
        </p:nvCxnSpPr>
        <p:spPr>
          <a:xfrm rot="-5400000">
            <a:off x="1261123" y="2972782"/>
            <a:ext cx="650400" cy="13800"/>
          </a:xfrm>
          <a:prstGeom prst="straightConnector1">
            <a:avLst/>
          </a:prstGeom>
          <a:noFill/>
          <a:ln cap="flat" cmpd="sng" w="100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19"/>
          <p:cNvCxnSpPr/>
          <p:nvPr/>
        </p:nvCxnSpPr>
        <p:spPr>
          <a:xfrm rot="5400000">
            <a:off x="2912402" y="3666508"/>
            <a:ext cx="666000" cy="0"/>
          </a:xfrm>
          <a:prstGeom prst="straightConnector1">
            <a:avLst/>
          </a:prstGeom>
          <a:noFill/>
          <a:ln cap="flat" cmpd="sng" w="100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19"/>
          <p:cNvCxnSpPr/>
          <p:nvPr/>
        </p:nvCxnSpPr>
        <p:spPr>
          <a:xfrm rot="5400000">
            <a:off x="6660102" y="3661513"/>
            <a:ext cx="666000" cy="0"/>
          </a:xfrm>
          <a:prstGeom prst="straightConnector1">
            <a:avLst/>
          </a:prstGeom>
          <a:noFill/>
          <a:ln cap="flat" cmpd="sng" w="100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9"/>
          <p:cNvCxnSpPr/>
          <p:nvPr/>
        </p:nvCxnSpPr>
        <p:spPr>
          <a:xfrm rot="5400000">
            <a:off x="4507219" y="2996947"/>
            <a:ext cx="666000" cy="0"/>
          </a:xfrm>
          <a:prstGeom prst="straightConnector1">
            <a:avLst/>
          </a:prstGeom>
          <a:noFill/>
          <a:ln cap="flat" cmpd="sng" w="100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19"/>
          <p:cNvSpPr txBox="1"/>
          <p:nvPr/>
        </p:nvSpPr>
        <p:spPr>
          <a:xfrm>
            <a:off x="762000" y="1785353"/>
            <a:ext cx="1682100" cy="844200"/>
          </a:xfrm>
          <a:prstGeom prst="rect">
            <a:avLst/>
          </a:prstGeom>
          <a:noFill/>
          <a:ln cap="flat" cmpd="sng" w="187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39850" lIns="39850" spcFirstLastPara="1" rIns="39850" wrap="square" tIns="39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Initial </a:t>
            </a:r>
            <a:br>
              <a:rPr b="1" lang="en-US" sz="189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9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Setup</a:t>
            </a:r>
            <a:endParaRPr b="1" sz="189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2338477" y="4022345"/>
            <a:ext cx="1813800" cy="896400"/>
          </a:xfrm>
          <a:prstGeom prst="rect">
            <a:avLst/>
          </a:prstGeom>
          <a:noFill/>
          <a:ln cap="flat" cmpd="sng" w="18750">
            <a:solidFill>
              <a:srgbClr val="00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9850" lIns="39850" spcFirstLastPara="1" rIns="39850" wrap="square" tIns="39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6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Basica Visualizer </a:t>
            </a:r>
            <a:endParaRPr b="1" sz="196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6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Deployment </a:t>
            </a:r>
            <a:endParaRPr b="1" sz="1744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3933300" y="1978874"/>
            <a:ext cx="1813800" cy="666000"/>
          </a:xfrm>
          <a:prstGeom prst="rect">
            <a:avLst/>
          </a:prstGeom>
          <a:noFill/>
          <a:ln cap="flat" cmpd="sng" w="18750">
            <a:solidFill>
              <a:srgbClr val="99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9850" lIns="39850" spcFirstLastPara="1" rIns="39850" wrap="square" tIns="39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Interaction </a:t>
            </a:r>
            <a:br>
              <a:rPr b="1" lang="en-US" sz="190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90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Control </a:t>
            </a:r>
            <a:endParaRPr b="1" sz="168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051397" y="4022343"/>
            <a:ext cx="1883400" cy="896400"/>
          </a:xfrm>
          <a:prstGeom prst="rect">
            <a:avLst/>
          </a:prstGeom>
          <a:noFill/>
          <a:ln cap="flat" cmpd="sng" w="18750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9850" lIns="39850" spcFirstLastPara="1" rIns="39850" wrap="square" tIns="39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6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Layer </a:t>
            </a:r>
            <a:endParaRPr b="1" sz="19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6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1" sz="174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7783300" y="1739425"/>
            <a:ext cx="2245500" cy="600000"/>
          </a:xfrm>
          <a:prstGeom prst="rect">
            <a:avLst/>
          </a:prstGeom>
          <a:noFill/>
          <a:ln cap="flat" cmpd="sng" w="18750">
            <a:solidFill>
              <a:srgbClr val="38761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9850" lIns="39850" spcFirstLastPara="1" rIns="39850" wrap="square" tIns="39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546"/>
              </a:spcAft>
              <a:buNone/>
            </a:pPr>
            <a:r>
              <a:rPr b="1" lang="en-US" sz="1704">
                <a:solidFill>
                  <a:schemeClr val="lt1"/>
                </a:solidFill>
              </a:rPr>
              <a:t>          </a:t>
            </a:r>
            <a:r>
              <a:rPr b="1" lang="en-US" sz="1704">
                <a:solidFill>
                  <a:schemeClr val="lt1"/>
                </a:solidFill>
              </a:rPr>
              <a:t>Highlight View/Exploded View</a:t>
            </a:r>
            <a:endParaRPr b="1" sz="1704">
              <a:solidFill>
                <a:schemeClr val="lt1"/>
              </a:solidFill>
            </a:endParaRPr>
          </a:p>
        </p:txBody>
      </p:sp>
      <p:cxnSp>
        <p:nvCxnSpPr>
          <p:cNvPr id="205" name="Google Shape;205;p19"/>
          <p:cNvCxnSpPr>
            <a:stCxn id="204" idx="2"/>
          </p:cNvCxnSpPr>
          <p:nvPr/>
        </p:nvCxnSpPr>
        <p:spPr>
          <a:xfrm>
            <a:off x="8906050" y="2339425"/>
            <a:ext cx="0" cy="985800"/>
          </a:xfrm>
          <a:prstGeom prst="straightConnector1">
            <a:avLst/>
          </a:prstGeom>
          <a:noFill/>
          <a:ln cap="flat" cmpd="sng" w="100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9"/>
          <p:cNvCxnSpPr/>
          <p:nvPr/>
        </p:nvCxnSpPr>
        <p:spPr>
          <a:xfrm rot="5400000">
            <a:off x="10586153" y="3693292"/>
            <a:ext cx="666000" cy="0"/>
          </a:xfrm>
          <a:prstGeom prst="straightConnector1">
            <a:avLst/>
          </a:prstGeom>
          <a:noFill/>
          <a:ln cap="flat" cmpd="sng" w="100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19"/>
          <p:cNvSpPr txBox="1"/>
          <p:nvPr/>
        </p:nvSpPr>
        <p:spPr>
          <a:xfrm>
            <a:off x="9909800" y="4016596"/>
            <a:ext cx="1883400" cy="844200"/>
          </a:xfrm>
          <a:prstGeom prst="rect">
            <a:avLst/>
          </a:prstGeom>
          <a:noFill/>
          <a:ln cap="flat" cmpd="sng" w="18750">
            <a:solidFill>
              <a:srgbClr val="C9DAF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9850" lIns="39850" spcFirstLastPara="1" rIns="39850" wrap="square" tIns="39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8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8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Final Deployment</a:t>
            </a:r>
            <a:endParaRPr b="1" sz="15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/>
          <p:nvPr/>
        </p:nvSpPr>
        <p:spPr>
          <a:xfrm flipH="1" rot="10800000">
            <a:off x="333200" y="758303"/>
            <a:ext cx="6258300" cy="33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33200" y="175950"/>
            <a:ext cx="698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Phase 1 (initial Project Setup)</a:t>
            </a:r>
            <a:endParaRPr sz="100"/>
          </a:p>
        </p:txBody>
      </p:sp>
      <p:sp>
        <p:nvSpPr>
          <p:cNvPr id="215" name="Google Shape;215;p20"/>
          <p:cNvSpPr txBox="1"/>
          <p:nvPr/>
        </p:nvSpPr>
        <p:spPr>
          <a:xfrm>
            <a:off x="333200" y="973300"/>
            <a:ext cx="9021600" cy="30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Completed project setup, repository configuration, and initial architecture planning.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Configured the HoloLens 2 development environment, including the simulator for testing.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Set up Mixed Reality and OpenXR frameworks required for application development.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Developed the initial model-loading and file-browsing workflow for importing anatomical 3D models.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b="1" lang="en-US" sz="1500">
                <a:solidFill>
                  <a:schemeClr val="lt1"/>
                </a:solidFill>
              </a:rPr>
              <a:t>Successfully loaded and visualized brain/skull models in mixed reality with basic inspection and navigation features.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9952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7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/>
          <p:nvPr/>
        </p:nvSpPr>
        <p:spPr>
          <a:xfrm flipH="1" rot="10800000">
            <a:off x="333200" y="758303"/>
            <a:ext cx="6258300" cy="333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33200" y="175950"/>
            <a:ext cx="698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what we </a:t>
            </a:r>
            <a:r>
              <a:rPr b="1" lang="en-US" sz="300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required</a:t>
            </a:r>
            <a:r>
              <a:rPr b="1" lang="en-US" sz="3000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 from AKDNDHRC</a:t>
            </a:r>
            <a:endParaRPr sz="100"/>
          </a:p>
        </p:txBody>
      </p:sp>
      <p:sp>
        <p:nvSpPr>
          <p:cNvPr id="223" name="Google Shape;223;p21"/>
          <p:cNvSpPr txBox="1"/>
          <p:nvPr/>
        </p:nvSpPr>
        <p:spPr>
          <a:xfrm>
            <a:off x="228025" y="1474863"/>
            <a:ext cx="902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250" lvl="0" marL="45720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</a:rPr>
              <a:t>Microsoft HoloLens 2  device  (Deployment &amp; Testing)</a:t>
            </a:r>
            <a:endParaRPr b="1" sz="1900">
              <a:solidFill>
                <a:schemeClr val="lt1"/>
              </a:solidFill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9150" y="637650"/>
            <a:ext cx="2641975" cy="264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333200" y="3683438"/>
            <a:ext cx="9021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250" lvl="0" marL="45720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</a:pPr>
            <a:r>
              <a:rPr b="1" lang="en-US" sz="1900">
                <a:solidFill>
                  <a:schemeClr val="lt1"/>
                </a:solidFill>
              </a:rPr>
              <a:t>Segmented / </a:t>
            </a:r>
            <a:r>
              <a:rPr b="1" lang="en-US" sz="1900">
                <a:solidFill>
                  <a:schemeClr val="lt1"/>
                </a:solidFill>
              </a:rPr>
              <a:t>divided</a:t>
            </a:r>
            <a:r>
              <a:rPr b="1" lang="en-US" sz="1900">
                <a:solidFill>
                  <a:schemeClr val="lt1"/>
                </a:solidFill>
              </a:rPr>
              <a:t> parts for brain 3d asset </a:t>
            </a:r>
            <a:endParaRPr b="1" sz="1900">
              <a:solidFill>
                <a:schemeClr val="lt1"/>
              </a:solidFill>
            </a:endParaRPr>
          </a:p>
        </p:txBody>
      </p:sp>
      <p:pic>
        <p:nvPicPr>
          <p:cNvPr id="226" name="Google Shape;2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9800" y="3136500"/>
            <a:ext cx="2757451" cy="2757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2" title="WhatsApp Video 2026-05-26 at 4.10.04 P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637650" cy="63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3785711" y="3034605"/>
            <a:ext cx="46205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DD4BF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3314700" y="4177605"/>
            <a:ext cx="55626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Lato Light"/>
                <a:ea typeface="Lato Light"/>
                <a:cs typeface="Lato Light"/>
                <a:sym typeface="Lato Light"/>
              </a:rPr>
              <a:t>Exploring the Future of Medical Mixed Reality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3729037" y="5175795"/>
            <a:ext cx="4733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Project HoloLens MVP | ResourceNet &amp; TritechX Joint Initiative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